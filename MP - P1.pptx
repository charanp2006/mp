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latypi Medium" panose="020B0604020202020204" charset="0"/>
      <p:regular r:id="rId13"/>
    </p:embeddedFont>
    <p:embeddedFont>
      <p:font typeface="Source Serif 4" panose="020B0604020202020204" charset="0"/>
      <p:regular r:id="rId14"/>
    </p:embeddedFont>
    <p:embeddedFont>
      <p:font typeface="Source Serif 4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23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2A317-026B-AAF1-62E8-6C58711E3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96765B-2B86-9C34-4632-627E9F207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A11FD-1B6F-2118-F197-F53B79106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5892A-FE1F-8FF7-7A97-84185A558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5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57709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Vidyavardhaka College of Engineering 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5233360" y="928588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· Department of Computer Science and Engineering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1299468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Predictive Container Management for Energy-Efficient Serverless Computing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5233360" y="3992761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4448076"/>
            <a:ext cx="3593613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Major Project — Phase 1 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Presented By: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Charan P — 4VV23CS042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Darshan S Gowda — 4VV23CS052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Gaurav S G — 4VV23CS074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294481" y="4448076"/>
            <a:ext cx="2851575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Guide</a:t>
            </a: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Dr. Tej Hiremat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179"/>
            <a:ext cx="1086874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Overview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61475" y="916384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Abstract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61475" y="176083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401002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2394485" y="3656509"/>
            <a:ext cx="19050" cy="35351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2337734" y="3943747"/>
            <a:ext cx="132553" cy="1325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2009973"/>
            <a:ext cx="313176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8179" y="2385219"/>
            <a:ext cx="3131761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Serverless computing provisions resources on demand, but cold starts spike latency while idle warm containers waste energy.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40305" y="4010025"/>
            <a:ext cx="19050" cy="35351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4183553" y="3943747"/>
            <a:ext cx="132553" cy="1325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12" name="Text 10"/>
          <p:cNvSpPr/>
          <p:nvPr/>
        </p:nvSpPr>
        <p:spPr>
          <a:xfrm>
            <a:off x="2683998" y="4540250"/>
            <a:ext cx="313176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&amp; Forecast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83998" y="4915495"/>
            <a:ext cx="3131761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Azure Functions traces are preprocessed into time-series sequences; a Temporal Fusion Transformer predicts short-term workload.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86224" y="3656509"/>
            <a:ext cx="19050" cy="35351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029472" y="3943747"/>
            <a:ext cx="132553" cy="1325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16" name="Text 14"/>
          <p:cNvSpPr/>
          <p:nvPr/>
        </p:nvSpPr>
        <p:spPr>
          <a:xfrm>
            <a:off x="4529917" y="2009973"/>
            <a:ext cx="313176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Agentic Planning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29917" y="2385219"/>
            <a:ext cx="3131761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Qwen3 interprets predicted demand, system state and SLA status to produce a high-level container-management plan.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932142" y="4010025"/>
            <a:ext cx="19050" cy="35351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9" name="Shape 17"/>
          <p:cNvSpPr/>
          <p:nvPr/>
        </p:nvSpPr>
        <p:spPr>
          <a:xfrm>
            <a:off x="7875390" y="3943747"/>
            <a:ext cx="132553" cy="1325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20" name="Text 18"/>
          <p:cNvSpPr/>
          <p:nvPr/>
        </p:nvSpPr>
        <p:spPr>
          <a:xfrm>
            <a:off x="6375737" y="4540250"/>
            <a:ext cx="313186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RL Control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75737" y="4915495"/>
            <a:ext cx="3131861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PPO controller executes fast decisions — NoOp, PreWarm, ScaleOut, Reuse, ScaleIn or Terminate — with SLA as the primary constraint.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777962" y="3656509"/>
            <a:ext cx="19050" cy="35351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9721210" y="3943747"/>
            <a:ext cx="132553" cy="1325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1655" y="2009973"/>
            <a:ext cx="313176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1655" y="2385219"/>
            <a:ext cx="3131761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closed-loop system is compared against reactive autoscaling on latency, SLA compliance, cold starts, energy and utilisation.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4128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 Statement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661475" y="97105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Challenge with Serverless Scaling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61475" y="177472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146201"/>
            <a:ext cx="4662669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Serverless workloads vary rapidly. Reactive scaling responds </a:t>
            </a:r>
            <a:r>
              <a:rPr lang="en-US" sz="130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after</a:t>
            </a: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demand changes, causing cold-start latency spikes. Keeping containers warm reduces cold starts but inflates idle energy and resource waste.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352701"/>
            <a:ext cx="4662669" cy="1136055"/>
          </a:xfrm>
          <a:prstGeom prst="roundRect">
            <a:avLst>
              <a:gd name="adj" fmla="val 2246"/>
            </a:avLst>
          </a:prstGeom>
          <a:solidFill>
            <a:srgbClr val="F3E3D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3583583"/>
            <a:ext cx="212620" cy="1700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4209" y="3532882"/>
            <a:ext cx="3939878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Core Problem:</a:t>
            </a:r>
            <a:r>
              <a:rPr lang="en-US" sz="13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Anticipate workload changes and autonomously manage containers so energy is minimised without violating SLA requirements.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45416" y="2180729"/>
            <a:ext cx="2818933" cy="185033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34522" y="2369840"/>
            <a:ext cx="2440720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Cold-Start Delay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934522" y="2807692"/>
            <a:ext cx="244072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New containers require initialisation, adding response latency during demand spikes.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17439" y="2180729"/>
            <a:ext cx="2819032" cy="185033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06545" y="2369840"/>
            <a:ext cx="2440819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Idle Energy Waste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906545" y="2807692"/>
            <a:ext cx="2440819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Warm containers kept on standby consume power even when receiving zero invocations.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45416" y="4184154"/>
            <a:ext cx="2818933" cy="1857474"/>
          </a:xfrm>
          <a:prstGeom prst="roundRect">
            <a:avLst>
              <a:gd name="adj" fmla="val 137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34522" y="4373265"/>
            <a:ext cx="2440720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📉</a:t>
            </a: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Reactive Limitation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934522" y="4811117"/>
            <a:ext cx="244072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Threshold-based autoscalers scale too late; sudden spikes breach SLA before action is taken.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717439" y="4184154"/>
            <a:ext cx="2819032" cy="1857474"/>
          </a:xfrm>
          <a:prstGeom prst="roundRect">
            <a:avLst>
              <a:gd name="adj" fmla="val 137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06545" y="4373265"/>
            <a:ext cx="2440819" cy="550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🔢</a:t>
            </a: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Optimisation Target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8906545" y="5076825"/>
            <a:ext cx="244081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Minimise </a:t>
            </a: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 + αL + βCS + γC</a:t>
            </a: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subject to P95 latency ≤ SLA target.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37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Introduction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202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Context &amp; Motivation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61475" y="1841599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126853"/>
            <a:ext cx="3496877" cy="2298799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231586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Serverless Growth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2724547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Event-driven applications create highly variable, burst-prone workloads that challenge traditional provisioning.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126853"/>
            <a:ext cx="3496877" cy="2298799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</p:sp>
      <p:sp>
        <p:nvSpPr>
          <p:cNvPr id="9" name="Text 7"/>
          <p:cNvSpPr/>
          <p:nvPr/>
        </p:nvSpPr>
        <p:spPr>
          <a:xfrm>
            <a:off x="4536366" y="231586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Cold-Start Challenge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36366" y="2724547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new container must initialise its runtime before serving requests, directly increasing end-user response latency.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126853"/>
            <a:ext cx="3496877" cy="2298799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2251" y="231586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Reactive Scaling Limit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22251" y="2724547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Scaling triggered by observed demand arrives too late for sudden spikes, causing SLA breaches at the moment of peak load.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614664"/>
            <a:ext cx="5339820" cy="1693962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850482" y="4803676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Energy Efficiency Need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50482" y="5212358"/>
            <a:ext cx="49618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Excessive warm capacity consumes significant energy during low-demand periods, raising operational cost and carbon footprint.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90301" y="4614664"/>
            <a:ext cx="5339820" cy="1693962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</p:sp>
      <p:sp>
        <p:nvSpPr>
          <p:cNvPr id="18" name="Text 16"/>
          <p:cNvSpPr/>
          <p:nvPr/>
        </p:nvSpPr>
        <p:spPr>
          <a:xfrm>
            <a:off x="6379308" y="4803676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Predictive Solution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379308" y="5212358"/>
            <a:ext cx="49618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Combining Transformer forecasting, Qwen3 agentic planning and PPO reinforcement learning enables proactive, autonomous control.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AA07D-76AE-E223-F59D-5FB0DD3E5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96ABD9-EF11-9C2B-53B9-F9EB191330F5}"/>
              </a:ext>
            </a:extLst>
          </p:cNvPr>
          <p:cNvSpPr/>
          <p:nvPr/>
        </p:nvSpPr>
        <p:spPr>
          <a:xfrm>
            <a:off x="700551" y="477720"/>
            <a:ext cx="10868745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36749C-10ED-B3B4-7B78-D987D70999B4}"/>
              </a:ext>
            </a:extLst>
          </p:cNvPr>
          <p:cNvSpPr/>
          <p:nvPr/>
        </p:nvSpPr>
        <p:spPr>
          <a:xfrm>
            <a:off x="700551" y="790692"/>
            <a:ext cx="10868745" cy="353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Objectives &amp; Targets</a:t>
            </a:r>
            <a:endParaRPr lang="en-US" sz="3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7D0DB8F-91F5-AF70-BF55-FB2596949746}"/>
              </a:ext>
            </a:extLst>
          </p:cNvPr>
          <p:cNvSpPr/>
          <p:nvPr/>
        </p:nvSpPr>
        <p:spPr>
          <a:xfrm>
            <a:off x="1544609" y="1937609"/>
            <a:ext cx="22651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01)</a:t>
            </a:r>
            <a:endParaRPr lang="en-US" sz="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24AA63-069C-FE68-C8FE-B3E39A18D7E6}"/>
              </a:ext>
            </a:extLst>
          </p:cNvPr>
          <p:cNvSpPr/>
          <p:nvPr/>
        </p:nvSpPr>
        <p:spPr>
          <a:xfrm>
            <a:off x="1755629" y="1902268"/>
            <a:ext cx="5853462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Workload Forecasting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7F4CC3B-A2EC-1A36-AB15-0F868EF7431B}"/>
              </a:ext>
            </a:extLst>
          </p:cNvPr>
          <p:cNvSpPr/>
          <p:nvPr/>
        </p:nvSpPr>
        <p:spPr>
          <a:xfrm>
            <a:off x="1759494" y="2170485"/>
            <a:ext cx="3558832" cy="348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TFT to predict short-term invocation demand from </a:t>
            </a:r>
          </a:p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multivariate workload and runtime features.</a:t>
            </a:r>
            <a:endParaRPr lang="en-US" sz="10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BDA0787-70CE-7B65-47F0-72456E614835}"/>
              </a:ext>
            </a:extLst>
          </p:cNvPr>
          <p:cNvSpPr/>
          <p:nvPr/>
        </p:nvSpPr>
        <p:spPr>
          <a:xfrm>
            <a:off x="1771120" y="3996190"/>
            <a:ext cx="5853462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Agentic Planning via Qwen3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664E705-3E99-ECE9-0012-3503CEA87ECA}"/>
              </a:ext>
            </a:extLst>
          </p:cNvPr>
          <p:cNvSpPr/>
          <p:nvPr/>
        </p:nvSpPr>
        <p:spPr>
          <a:xfrm>
            <a:off x="1759494" y="4306601"/>
            <a:ext cx="5478591" cy="37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High-level reasoning over forecast, system state and </a:t>
            </a:r>
          </a:p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SLA to generate orchestration plans.</a:t>
            </a:r>
            <a:endParaRPr lang="en-US" sz="1050" dirty="0"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AEB16CF3-D290-4FA9-09BA-1448347CB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2950" y="5259156"/>
            <a:ext cx="4738966" cy="1316236"/>
          </a:xfrm>
          <a:prstGeom prst="rect">
            <a:avLst/>
          </a:prstGeom>
        </p:spPr>
      </p:pic>
      <p:sp>
        <p:nvSpPr>
          <p:cNvPr id="30" name="Text 27">
            <a:extLst>
              <a:ext uri="{FF2B5EF4-FFF2-40B4-BE49-F238E27FC236}">
                <a16:creationId xmlns:a16="http://schemas.microsoft.com/office/drawing/2014/main" id="{A863C1B3-4317-419A-7C57-293F6438AC47}"/>
              </a:ext>
            </a:extLst>
          </p:cNvPr>
          <p:cNvSpPr/>
          <p:nvPr/>
        </p:nvSpPr>
        <p:spPr>
          <a:xfrm>
            <a:off x="3949654" y="5385064"/>
            <a:ext cx="4436356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Indicative Targets </a:t>
            </a:r>
            <a:r>
              <a:rPr lang="en-US" sz="1100" i="1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(not guaranteed results)</a:t>
            </a:r>
            <a:endParaRPr lang="en-US" sz="11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7C4181B4-F34A-B4A7-45CA-4C3AAD6945D6}"/>
              </a:ext>
            </a:extLst>
          </p:cNvPr>
          <p:cNvSpPr/>
          <p:nvPr/>
        </p:nvSpPr>
        <p:spPr>
          <a:xfrm>
            <a:off x="3949654" y="5629837"/>
            <a:ext cx="4436356" cy="819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8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15–25%</a:t>
            </a: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energy consumption reduction</a:t>
            </a:r>
            <a:endParaRPr lang="en-US" sz="85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8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20–30%</a:t>
            </a: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cold-start count reduction</a:t>
            </a:r>
            <a:endParaRPr lang="en-US" sz="85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P95 latency maintained within SLA</a:t>
            </a:r>
            <a:endParaRPr lang="en-US" sz="85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Improved CPU &amp; memory utilisation</a:t>
            </a:r>
            <a:endParaRPr lang="en-US" sz="85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Reduced over-provisioning</a:t>
            </a:r>
            <a:endParaRPr lang="en-US" sz="850" dirty="0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4E33F86F-0891-EA55-36B8-B30F6E862229}"/>
              </a:ext>
            </a:extLst>
          </p:cNvPr>
          <p:cNvSpPr/>
          <p:nvPr/>
        </p:nvSpPr>
        <p:spPr>
          <a:xfrm>
            <a:off x="1759494" y="3175486"/>
            <a:ext cx="5478591" cy="37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7000"/>
              </a:lnSpc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Prewarm or scale containers before demand arrives, </a:t>
            </a:r>
          </a:p>
          <a:p>
            <a:pPr>
              <a:lnSpc>
                <a:spcPct val="107000"/>
              </a:lnSpc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eliminating reactive cold-start latency.</a:t>
            </a:r>
            <a:endParaRPr lang="en-US" sz="1050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8EE38FE3-3A36-B91B-DAB5-B5BFFF3DE903}"/>
              </a:ext>
            </a:extLst>
          </p:cNvPr>
          <p:cNvSpPr/>
          <p:nvPr/>
        </p:nvSpPr>
        <p:spPr>
          <a:xfrm>
            <a:off x="1759494" y="2907268"/>
            <a:ext cx="5853462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Proactive Scaling</a:t>
            </a:r>
            <a:endParaRPr lang="en-US" sz="1600" dirty="0"/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BC6506C8-0AF4-EBA9-E47D-FB6178944D78}"/>
              </a:ext>
            </a:extLst>
          </p:cNvPr>
          <p:cNvSpPr/>
          <p:nvPr/>
        </p:nvSpPr>
        <p:spPr>
          <a:xfrm>
            <a:off x="6745755" y="1898363"/>
            <a:ext cx="5853462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SLA Protection</a:t>
            </a:r>
            <a:endParaRPr lang="en-US" sz="1600" dirty="0"/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0EB33B9C-79E0-9166-35F9-98DE2C6FBC9E}"/>
              </a:ext>
            </a:extLst>
          </p:cNvPr>
          <p:cNvSpPr/>
          <p:nvPr/>
        </p:nvSpPr>
        <p:spPr>
          <a:xfrm>
            <a:off x="6749620" y="2166580"/>
            <a:ext cx="3558832" cy="348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 eaLnBrk="1" latinLnBrk="0" hangingPunct="1">
              <a:lnSpc>
                <a:spcPct val="107000"/>
              </a:lnSpc>
              <a:buNone/>
            </a:pPr>
            <a:r>
              <a:rPr lang="en-US" sz="1050" kern="1200" dirty="0">
                <a:solidFill>
                  <a:srgbClr val="504C49"/>
                </a:solidFill>
                <a:effectLst/>
                <a:latin typeface="Source Serif 4" panose="020B0604020202020204" charset="0"/>
                <a:ea typeface="Source Serif 4" panose="020B0604020202020204" charset="0"/>
                <a:cs typeface="Source Serif 4" panose="020B0604020202020204" charset="0"/>
              </a:rPr>
              <a:t>Strongly prioritize P95 latency within the defined SLA</a:t>
            </a:r>
          </a:p>
          <a:p>
            <a:pPr marL="0" indent="0" algn="l" rtl="0" eaLnBrk="1" latinLnBrk="0" hangingPunct="1">
              <a:lnSpc>
                <a:spcPct val="107000"/>
              </a:lnSpc>
              <a:buNone/>
            </a:pPr>
            <a:r>
              <a:rPr lang="en-US" sz="1050" kern="1200" dirty="0">
                <a:solidFill>
                  <a:srgbClr val="504C49"/>
                </a:solidFill>
                <a:effectLst/>
                <a:latin typeface="Source Serif 4" panose="020B0604020202020204" charset="0"/>
                <a:ea typeface="Source Serif 4" panose="020B0604020202020204" charset="0"/>
                <a:cs typeface="Source Serif 4" panose="020B0604020202020204" charset="0"/>
              </a:rPr>
              <a:t>target; violations carry the highest penalty.</a:t>
            </a:r>
            <a:endParaRPr lang="en-IN" sz="1050" dirty="0">
              <a:effectLst/>
            </a:endParaRPr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60BC4AB3-AA45-25B2-59D5-03578052EBAD}"/>
              </a:ext>
            </a:extLst>
          </p:cNvPr>
          <p:cNvSpPr/>
          <p:nvPr/>
        </p:nvSpPr>
        <p:spPr>
          <a:xfrm>
            <a:off x="6749620" y="3992285"/>
            <a:ext cx="5853462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Rigorous Evaluation</a:t>
            </a:r>
          </a:p>
        </p:txBody>
      </p:sp>
      <p:sp>
        <p:nvSpPr>
          <p:cNvPr id="64" name="Text 14">
            <a:extLst>
              <a:ext uri="{FF2B5EF4-FFF2-40B4-BE49-F238E27FC236}">
                <a16:creationId xmlns:a16="http://schemas.microsoft.com/office/drawing/2014/main" id="{B4CD2DC2-408F-BC87-72B0-D340B6D0A25F}"/>
              </a:ext>
            </a:extLst>
          </p:cNvPr>
          <p:cNvSpPr/>
          <p:nvPr/>
        </p:nvSpPr>
        <p:spPr>
          <a:xfrm>
            <a:off x="6745755" y="4302696"/>
            <a:ext cx="5478591" cy="37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7000"/>
              </a:lnSpc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 against reactive autoscaling across multiple</a:t>
            </a:r>
          </a:p>
          <a:p>
            <a:pPr>
              <a:lnSpc>
                <a:spcPct val="107000"/>
              </a:lnSpc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workload patterns with clear metrics.</a:t>
            </a:r>
            <a:endParaRPr lang="en-US" sz="1050" dirty="0"/>
          </a:p>
        </p:txBody>
      </p:sp>
      <p:sp>
        <p:nvSpPr>
          <p:cNvPr id="72" name="Text 14">
            <a:extLst>
              <a:ext uri="{FF2B5EF4-FFF2-40B4-BE49-F238E27FC236}">
                <a16:creationId xmlns:a16="http://schemas.microsoft.com/office/drawing/2014/main" id="{C3DC0AE8-1058-9243-1DD7-6030884DF663}"/>
              </a:ext>
            </a:extLst>
          </p:cNvPr>
          <p:cNvSpPr/>
          <p:nvPr/>
        </p:nvSpPr>
        <p:spPr>
          <a:xfrm>
            <a:off x="6749620" y="3179396"/>
            <a:ext cx="5478591" cy="37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7000"/>
              </a:lnSpc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Reduce unnecessary active and idle container time to </a:t>
            </a:r>
          </a:p>
          <a:p>
            <a:pPr>
              <a:lnSpc>
                <a:spcPct val="107000"/>
              </a:lnSpc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lower overall energy consumption.</a:t>
            </a:r>
          </a:p>
        </p:txBody>
      </p:sp>
      <p:sp>
        <p:nvSpPr>
          <p:cNvPr id="74" name="Text 13">
            <a:extLst>
              <a:ext uri="{FF2B5EF4-FFF2-40B4-BE49-F238E27FC236}">
                <a16:creationId xmlns:a16="http://schemas.microsoft.com/office/drawing/2014/main" id="{427E2675-E86A-CAC8-945C-5102326BC3A9}"/>
              </a:ext>
            </a:extLst>
          </p:cNvPr>
          <p:cNvSpPr/>
          <p:nvPr/>
        </p:nvSpPr>
        <p:spPr>
          <a:xfrm>
            <a:off x="6749620" y="2903363"/>
            <a:ext cx="5853462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 eaLnBrk="1" latinLnBrk="0" hangingPunct="1">
              <a:lnSpc>
                <a:spcPct val="104000"/>
              </a:lnSpc>
              <a:buNone/>
            </a:pPr>
            <a:r>
              <a:rPr lang="en-US" sz="1600" kern="1200" dirty="0">
                <a:solidFill>
                  <a:srgbClr val="504C49"/>
                </a:solidFill>
                <a:effectLst/>
                <a:latin typeface="Platypi Medium" panose="020B0604020202020204" charset="0"/>
                <a:ea typeface="Platypi Medium" panose="020B0604020202020204" charset="0"/>
                <a:cs typeface="Platypi Medium" panose="020B0604020202020204" charset="0"/>
              </a:rPr>
              <a:t>Energy Optimization</a:t>
            </a:r>
            <a:endParaRPr lang="en-IN" sz="1600" dirty="0">
              <a:effectLst/>
            </a:endParaRPr>
          </a:p>
        </p:txBody>
      </p:sp>
      <p:sp>
        <p:nvSpPr>
          <p:cNvPr id="78" name="Text 3">
            <a:extLst>
              <a:ext uri="{FF2B5EF4-FFF2-40B4-BE49-F238E27FC236}">
                <a16:creationId xmlns:a16="http://schemas.microsoft.com/office/drawing/2014/main" id="{DDB1FB27-6383-68A9-C95F-5598B66CCF36}"/>
              </a:ext>
            </a:extLst>
          </p:cNvPr>
          <p:cNvSpPr/>
          <p:nvPr/>
        </p:nvSpPr>
        <p:spPr>
          <a:xfrm>
            <a:off x="1532887" y="2949698"/>
            <a:ext cx="22651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02)</a:t>
            </a:r>
            <a:endParaRPr lang="en-US" sz="700" dirty="0"/>
          </a:p>
        </p:txBody>
      </p:sp>
      <p:sp>
        <p:nvSpPr>
          <p:cNvPr id="80" name="Text 3">
            <a:extLst>
              <a:ext uri="{FF2B5EF4-FFF2-40B4-BE49-F238E27FC236}">
                <a16:creationId xmlns:a16="http://schemas.microsoft.com/office/drawing/2014/main" id="{0F8D7F77-7D8C-B241-8247-DA461F9A54B4}"/>
              </a:ext>
            </a:extLst>
          </p:cNvPr>
          <p:cNvSpPr/>
          <p:nvPr/>
        </p:nvSpPr>
        <p:spPr>
          <a:xfrm>
            <a:off x="1544609" y="4054306"/>
            <a:ext cx="22651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03)</a:t>
            </a:r>
            <a:endParaRPr lang="en-US" sz="700" dirty="0"/>
          </a:p>
        </p:txBody>
      </p:sp>
      <p:sp>
        <p:nvSpPr>
          <p:cNvPr id="82" name="Text 3">
            <a:extLst>
              <a:ext uri="{FF2B5EF4-FFF2-40B4-BE49-F238E27FC236}">
                <a16:creationId xmlns:a16="http://schemas.microsoft.com/office/drawing/2014/main" id="{827238C5-D258-7676-3DEF-34CBB2D99D38}"/>
              </a:ext>
            </a:extLst>
          </p:cNvPr>
          <p:cNvSpPr/>
          <p:nvPr/>
        </p:nvSpPr>
        <p:spPr>
          <a:xfrm>
            <a:off x="6534735" y="1928415"/>
            <a:ext cx="22651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04)</a:t>
            </a:r>
            <a:endParaRPr lang="en-US" sz="7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0AE684BC-0098-E6C4-0080-740F127689EE}"/>
              </a:ext>
            </a:extLst>
          </p:cNvPr>
          <p:cNvSpPr/>
          <p:nvPr/>
        </p:nvSpPr>
        <p:spPr>
          <a:xfrm>
            <a:off x="6523013" y="2940504"/>
            <a:ext cx="22651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05)</a:t>
            </a:r>
            <a:endParaRPr lang="en-US" sz="700" dirty="0"/>
          </a:p>
        </p:txBody>
      </p:sp>
      <p:sp>
        <p:nvSpPr>
          <p:cNvPr id="86" name="Text 3">
            <a:extLst>
              <a:ext uri="{FF2B5EF4-FFF2-40B4-BE49-F238E27FC236}">
                <a16:creationId xmlns:a16="http://schemas.microsoft.com/office/drawing/2014/main" id="{C195A894-C85D-FF1E-2F99-8F6C4A397DFC}"/>
              </a:ext>
            </a:extLst>
          </p:cNvPr>
          <p:cNvSpPr/>
          <p:nvPr/>
        </p:nvSpPr>
        <p:spPr>
          <a:xfrm>
            <a:off x="6534735" y="4045112"/>
            <a:ext cx="22651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06)</a:t>
            </a:r>
            <a:endParaRPr lang="en-US" sz="700" dirty="0"/>
          </a:p>
        </p:txBody>
      </p:sp>
      <p:sp>
        <p:nvSpPr>
          <p:cNvPr id="88" name="Shape 2">
            <a:extLst>
              <a:ext uri="{FF2B5EF4-FFF2-40B4-BE49-F238E27FC236}">
                <a16:creationId xmlns:a16="http://schemas.microsoft.com/office/drawing/2014/main" id="{C9B449BF-32BA-485F-14F9-0FD84F17B359}"/>
              </a:ext>
            </a:extLst>
          </p:cNvPr>
          <p:cNvSpPr/>
          <p:nvPr/>
        </p:nvSpPr>
        <p:spPr>
          <a:xfrm>
            <a:off x="700551" y="1513619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EA0BE72-0607-67CF-2D3F-0E3EB47DC696}"/>
              </a:ext>
            </a:extLst>
          </p:cNvPr>
          <p:cNvSpPr/>
          <p:nvPr/>
        </p:nvSpPr>
        <p:spPr>
          <a:xfrm>
            <a:off x="1445844" y="1800291"/>
            <a:ext cx="4134340" cy="30393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DA7FBCF-6D2F-27BB-6666-B611F1D4E5F8}"/>
              </a:ext>
            </a:extLst>
          </p:cNvPr>
          <p:cNvSpPr/>
          <p:nvPr/>
        </p:nvSpPr>
        <p:spPr>
          <a:xfrm>
            <a:off x="6443791" y="1804202"/>
            <a:ext cx="4134340" cy="3035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B2433B4-BB89-138A-4434-FE8405D3D85C}"/>
              </a:ext>
            </a:extLst>
          </p:cNvPr>
          <p:cNvCxnSpPr/>
          <p:nvPr/>
        </p:nvCxnSpPr>
        <p:spPr>
          <a:xfrm>
            <a:off x="1445844" y="2740793"/>
            <a:ext cx="4140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8B9801F-9E8D-7C8B-D7B1-0EECE20661C4}"/>
              </a:ext>
            </a:extLst>
          </p:cNvPr>
          <p:cNvCxnSpPr/>
          <p:nvPr/>
        </p:nvCxnSpPr>
        <p:spPr>
          <a:xfrm>
            <a:off x="1442602" y="3758958"/>
            <a:ext cx="4140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BAEABE7-E49A-394A-44D2-7111CC29AF3B}"/>
              </a:ext>
            </a:extLst>
          </p:cNvPr>
          <p:cNvCxnSpPr/>
          <p:nvPr/>
        </p:nvCxnSpPr>
        <p:spPr>
          <a:xfrm>
            <a:off x="6432909" y="2747277"/>
            <a:ext cx="4140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2BA1566-50B5-F10E-4433-7A8BA34E2103}"/>
              </a:ext>
            </a:extLst>
          </p:cNvPr>
          <p:cNvCxnSpPr/>
          <p:nvPr/>
        </p:nvCxnSpPr>
        <p:spPr>
          <a:xfrm>
            <a:off x="6429667" y="3755714"/>
            <a:ext cx="4140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685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345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Architecture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11643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Pipeline &amp; Model Architecture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61475" y="208567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70931"/>
            <a:ext cx="10868745" cy="28760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780" y="3343381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 Prep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499780" y="3721236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Clean and sort Azure Functions traces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382469" y="2955067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Preprocessing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382469" y="3332922"/>
            <a:ext cx="1642940" cy="94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Resample, normalize, encode, add time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265158" y="3343381"/>
            <a:ext cx="1642940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TFT Forecasting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265158" y="4015414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30 intervals in → predict next 5–15 min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147847" y="2896232"/>
            <a:ext cx="1642941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Qwen3 Planning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147847" y="3568264"/>
            <a:ext cx="1642941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Forecast + state + SLA → high-level plan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040996" y="3343381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PPO Control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040996" y="3721236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State → action: PreWarm/Scale/Reuse/Terminate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1475" y="545961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source: </a:t>
            </a: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Azure Functions workload traces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· Key features include invocation count, execution duration, CPU/memory utilisation, container state, cold-start occurrence, response latency and time-of-day indicators.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091" y="480186"/>
            <a:ext cx="108687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Methodology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66091" y="744108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Methodology &amp; Control Loop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466091" y="138198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781501" y="4607561"/>
            <a:ext cx="1086024" cy="1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Agentic Planning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781501" y="4129698"/>
            <a:ext cx="1086024" cy="135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TFT Prediction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781501" y="3656662"/>
            <a:ext cx="1086024" cy="1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Preprocessing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781501" y="3178799"/>
            <a:ext cx="1086024" cy="1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Workload Data</a:t>
            </a:r>
            <a:endParaRPr lang="en-US" sz="8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336C28F-0187-A148-8DDF-D8439BE776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202"/>
          <a:stretch>
            <a:fillRect/>
          </a:stretch>
        </p:blipFill>
        <p:spPr>
          <a:xfrm>
            <a:off x="466091" y="1518898"/>
            <a:ext cx="10868745" cy="46082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290" y="273484"/>
            <a:ext cx="1086874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9290" y="493353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Tools &amp; Technologies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69290" y="1017327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36073" y="1122259"/>
            <a:ext cx="10785404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stack integrates state-of-the-art ML frameworks with production-grade cloud-native infrastructure, enabling end-to-end experimentation and real deployment validation.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88696"/>
              </p:ext>
            </p:extLst>
          </p:nvPr>
        </p:nvGraphicFramePr>
        <p:xfrm>
          <a:off x="3188677" y="1764423"/>
          <a:ext cx="7764138" cy="4099696"/>
        </p:xfrm>
        <a:graphic>
          <a:graphicData uri="http://schemas.openxmlformats.org/drawingml/2006/table">
            <a:tbl>
              <a:tblPr/>
              <a:tblGrid>
                <a:gridCol w="2588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8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Category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2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5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Tool / Library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3E2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2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5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Role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3E2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5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Programming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Python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Orchestration, ML/RL pipelines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Data Processing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Pandas, NumPy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Cleaning, resampling, feature engineering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Deep Learning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PyTorch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Model implementation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Prediction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Temporal Fusion Transformer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Workload forecasting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Agentic AI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Qwen3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High-level planning &amp; reasoning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Reinforcement Learning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PPO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Fast SLA-aware control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Serverless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OpenFaaS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Function execution runtime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Containerisation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Docker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Application containers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Orchestration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Kubernetes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Container lifecycle &amp; scaling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2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Monitoring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Prometheus + Grafana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Metrics collection &amp; dashboards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2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Dataset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Azure Functions Traces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Historical workload patterns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8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Development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Jupyter Notebook / VS Code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Experimentation &amp; implementation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300" y="2066188"/>
            <a:ext cx="302312" cy="302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0300" y="2465147"/>
            <a:ext cx="144086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ML / AI Layer</a:t>
            </a:r>
            <a:endParaRPr lang="en-US" sz="1150" dirty="0"/>
          </a:p>
        </p:txBody>
      </p:sp>
      <p:sp>
        <p:nvSpPr>
          <p:cNvPr id="6" name="Text 5"/>
          <p:cNvSpPr/>
          <p:nvPr/>
        </p:nvSpPr>
        <p:spPr>
          <a:xfrm>
            <a:off x="880301" y="2700494"/>
            <a:ext cx="1730036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PyTorch · TFT · Qwen3 · PPO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301" y="3326751"/>
            <a:ext cx="302312" cy="302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0302" y="3725710"/>
            <a:ext cx="167780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Infrastructure Layer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880301" y="3961057"/>
            <a:ext cx="1959155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Kubernetes · OpenFaaS · Docker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864" y="4586071"/>
            <a:ext cx="302312" cy="302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7864" y="4985030"/>
            <a:ext cx="1477087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Observability Layer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937864" y="5220377"/>
            <a:ext cx="1734995" cy="173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Prometheus · Grafana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802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Expected Outcomes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661475" y="85139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Deliverables, Applications &amp; References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61475" y="159831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1811040"/>
            <a:ext cx="3531901" cy="1675507"/>
          </a:xfrm>
          <a:prstGeom prst="roundRect">
            <a:avLst>
              <a:gd name="adj" fmla="val 143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156" y="1990725"/>
            <a:ext cx="3172539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Predictive Workload Model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156" y="2342654"/>
            <a:ext cx="317253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Accurate short-term workload forecasts using TFT trained on Azure Functions traces.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9897" y="1811040"/>
            <a:ext cx="3531901" cy="1675507"/>
          </a:xfrm>
          <a:prstGeom prst="roundRect">
            <a:avLst>
              <a:gd name="adj" fmla="val 143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9578" y="1990725"/>
            <a:ext cx="3172539" cy="521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Autonomous Container Controller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09578" y="2593677"/>
            <a:ext cx="317253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Proactive, adaptive lifecycle decisions driven by Qwen3 planning and PPO control.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98319" y="1811040"/>
            <a:ext cx="3531901" cy="1675507"/>
          </a:xfrm>
          <a:prstGeom prst="roundRect">
            <a:avLst>
              <a:gd name="adj" fmla="val 143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78000" y="1990725"/>
            <a:ext cx="3172539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SLA-Safe Energy Efficiency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178000" y="2342654"/>
            <a:ext cx="3172539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Lower energy and cold starts while preserving the P95 latency target. </a:t>
            </a:r>
            <a:r>
              <a:rPr lang="en-US" sz="12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(Targets: 15–25% energy, 20–30% cold-start reduction.)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1475" y="3623072"/>
            <a:ext cx="5366112" cy="1186755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156" y="3802757"/>
            <a:ext cx="5006751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☁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Cloud-Native Prototype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1156" y="4154686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Kubernetes/OpenFaaS/Docker implementation with Prometheus and Grafana monitoring dashboards.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64108" y="3623072"/>
            <a:ext cx="5366112" cy="1186755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3789" y="3802757"/>
            <a:ext cx="5006751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Evaluation &amp; Documentation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43789" y="4154686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Baseline comparison, ablation study, full metrics/graphs and final project report.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1475" y="4963418"/>
            <a:ext cx="10868745" cy="814983"/>
          </a:xfrm>
          <a:prstGeom prst="roundRect">
            <a:avLst>
              <a:gd name="adj" fmla="val 2957"/>
            </a:avLst>
          </a:prstGeom>
          <a:solidFill>
            <a:srgbClr val="F3E3D8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6" y="5158184"/>
            <a:ext cx="200814" cy="16063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83551" y="5140027"/>
            <a:ext cx="1018603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Example: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During an e-commerce flash sale, TFT predicts a spike → Qwen3 plans prewarming → PPO selects the exact action → warm containers handle demand → as demand drops, the system scales in to save energy.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61475" y="5931991"/>
            <a:ext cx="10868745" cy="380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Key References:</a:t>
            </a: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(1) IEEE TNSM 2025 — DOI 10.1109/TNSM.2024.3497155 · (2) IEEE TSC 2025 — DOI 10.1109/TSC.2025.3596887 · (3) IEEE TC 2024 — DOI 10.1109/TC.2024.3386063 · (4) IEEE IPDPS 2024 — DOI 10.1109/IPDPS57955.2024.00017 · (5) IEEE TNSE 2026 — DOI 10.1109/TNSE.2026.3691933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400263"/>
            <a:ext cx="6296860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Thank You</a:t>
            </a:r>
            <a:endParaRPr lang="en-US" sz="7400" dirty="0"/>
          </a:p>
        </p:txBody>
      </p:sp>
      <p:sp>
        <p:nvSpPr>
          <p:cNvPr id="4" name="Shape 1"/>
          <p:cNvSpPr/>
          <p:nvPr/>
        </p:nvSpPr>
        <p:spPr>
          <a:xfrm>
            <a:off x="661475" y="3912356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990</Words>
  <Application>Microsoft Office PowerPoint</Application>
  <PresentationFormat>Widescreen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Source Serif 4 Bold</vt:lpstr>
      <vt:lpstr>Source Serif 4</vt:lpstr>
      <vt:lpstr>Platypi Medium</vt:lpstr>
      <vt:lpstr>Platypi Light</vt:lpstr>
      <vt:lpstr>Arial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Charan P</dc:creator>
  <cp:lastModifiedBy>Charan P</cp:lastModifiedBy>
  <cp:revision>2</cp:revision>
  <dcterms:created xsi:type="dcterms:W3CDTF">2026-09-13T16:57:43Z</dcterms:created>
  <dcterms:modified xsi:type="dcterms:W3CDTF">2026-09-13T19:00:34Z</dcterms:modified>
</cp:coreProperties>
</file>