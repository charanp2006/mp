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9" r:id="rId2"/>
    <p:sldId id="257" r:id="rId3"/>
    <p:sldId id="258" r:id="rId4"/>
    <p:sldId id="259" r:id="rId5"/>
    <p:sldId id="267" r:id="rId6"/>
    <p:sldId id="261" r:id="rId7"/>
    <p:sldId id="262" r:id="rId8"/>
    <p:sldId id="263" r:id="rId9"/>
    <p:sldId id="264" r:id="rId10"/>
    <p:sldId id="268" r:id="rId11"/>
    <p:sldId id="265" r:id="rId12"/>
  </p:sldIdLst>
  <p:sldSz cx="12192000" cy="6858000"/>
  <p:notesSz cx="6858000" cy="12192000"/>
  <p:embeddedFontLst>
    <p:embeddedFont>
      <p:font typeface="Book Antiqua" panose="02040602050305030304" pitchFamily="18" charset="0"/>
      <p:regular r:id="rId14"/>
      <p:bold r:id="rId15"/>
      <p:italic r:id="rId16"/>
      <p:boldItalic r:id="rId17"/>
    </p:embeddedFont>
    <p:embeddedFont>
      <p:font typeface="Platypi Medium" panose="020B0604020202020204" charset="0"/>
      <p:regular r:id="rId18"/>
    </p:embeddedFont>
    <p:embeddedFont>
      <p:font typeface="Source Serif 4" panose="020B0604020202020204" charset="0"/>
      <p:regular r:id="rId19"/>
    </p:embeddedFont>
    <p:embeddedFont>
      <p:font typeface="Source Serif 4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23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BA4C-1AD7-DBAF-1F4E-9DBFDD4F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02922-6323-D90C-FBEA-3E77CE138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00675B-3A40-560D-3508-437C7C2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09CC3-AEBA-5470-FF04-8F0A17B5D0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704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15F41-95A8-1E6F-503C-4397D46E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7A72B-AD96-5466-6F49-03673C6C0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8BC63-30C5-BF69-B30B-69CC33ED7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46C33-37F6-994C-85CC-E3C65E49D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74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53BB-8CBD-F381-EE2C-97B1B41D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7B075-2668-2D62-76C5-004B6BE4A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20EBF-4F26-EA03-8C37-DD8B776E2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8A35E-B649-F0C7-A35E-5919F8974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8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14B3-64A5-7797-3B45-F8BAC5A7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A510F74-B0FA-4ACF-DFEB-FC53336BD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02B7998-4646-4DD2-EF50-5E28CD291A7B}"/>
              </a:ext>
            </a:extLst>
          </p:cNvPr>
          <p:cNvSpPr/>
          <p:nvPr/>
        </p:nvSpPr>
        <p:spPr>
          <a:xfrm>
            <a:off x="5233360" y="40922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Vidyavardhaka</a:t>
            </a:r>
            <a:r>
              <a:rPr lang="en-US" sz="1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College of Engineering </a:t>
            </a:r>
            <a:endParaRPr lang="en-US" sz="1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DE8629-8F49-1273-3AE8-F254F2B7346A}"/>
              </a:ext>
            </a:extLst>
          </p:cNvPr>
          <p:cNvSpPr/>
          <p:nvPr/>
        </p:nvSpPr>
        <p:spPr>
          <a:xfrm>
            <a:off x="5233360" y="751390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Department of Computer Science and Engineering</a:t>
            </a:r>
            <a:endParaRPr lang="en-US" sz="1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4B7A80D-875A-0C7A-71FD-DAD6937486F7}"/>
              </a:ext>
            </a:extLst>
          </p:cNvPr>
          <p:cNvSpPr/>
          <p:nvPr/>
        </p:nvSpPr>
        <p:spPr>
          <a:xfrm>
            <a:off x="5233361" y="1333098"/>
            <a:ext cx="6427193" cy="2425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ct val="104000"/>
              </a:lnSpc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 Agentic AI and Transformer-</a:t>
            </a:r>
          </a:p>
          <a:p>
            <a:pPr>
              <a:lnSpc>
                <a:spcPct val="104000"/>
              </a:lnSpc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Based Framework for Intelligent and Energy-Efficient </a:t>
            </a:r>
          </a:p>
          <a:p>
            <a:pPr>
              <a:lnSpc>
                <a:spcPct val="104000"/>
              </a:lnSpc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Container Management in Serverless Computing</a:t>
            </a:r>
            <a:endParaRPr lang="en-US" sz="37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6E227C3-C577-44DF-7666-3C0660223C45}"/>
              </a:ext>
            </a:extLst>
          </p:cNvPr>
          <p:cNvSpPr/>
          <p:nvPr/>
        </p:nvSpPr>
        <p:spPr>
          <a:xfrm>
            <a:off x="5241175" y="4070917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6D2693A-E62F-E45D-B681-60BDA6678D5F}"/>
              </a:ext>
            </a:extLst>
          </p:cNvPr>
          <p:cNvSpPr/>
          <p:nvPr/>
        </p:nvSpPr>
        <p:spPr>
          <a:xfrm>
            <a:off x="5233361" y="4502787"/>
            <a:ext cx="31759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Major Project — Phase 1 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anose="020B0604020202020204" charset="0"/>
                <a:ea typeface="Source Serif 4 Bold" panose="020B0604020202020204" charset="0"/>
                <a:cs typeface="Source Serif 4" pitchFamily="34" charset="-120"/>
              </a:rPr>
              <a:t>Presented By</a:t>
            </a:r>
            <a:endParaRPr lang="en-US" sz="1450" b="1" dirty="0">
              <a:latin typeface="Source Serif 4 Bold" panose="020B0604020202020204" charset="0"/>
              <a:ea typeface="Source Serif 4 Bold" panose="020B0604020202020204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Charan P — 4VV23CS042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Darshan S Gowda — 4VV23CS052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Gaurav S G — 4VV23CS074</a:t>
            </a:r>
            <a:endParaRPr lang="en-US" sz="14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9EA6765-1628-8D12-9EC3-8203F5CA5188}"/>
              </a:ext>
            </a:extLst>
          </p:cNvPr>
          <p:cNvSpPr/>
          <p:nvPr/>
        </p:nvSpPr>
        <p:spPr>
          <a:xfrm>
            <a:off x="9340425" y="4991809"/>
            <a:ext cx="2390467" cy="53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Project Guide</a:t>
            </a:r>
            <a:endParaRPr lang="en-US" sz="1400" b="1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 Bold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 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Dr. Tej C Hiremath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613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179"/>
            <a:ext cx="1086874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Overview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61475" y="916384"/>
            <a:ext cx="10868745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Abstract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61475" y="176083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401002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2394485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7" name="Shape 5"/>
          <p:cNvSpPr/>
          <p:nvPr/>
        </p:nvSpPr>
        <p:spPr>
          <a:xfrm>
            <a:off x="2337734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38179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Serverless computing provisions resources on demand, but cold starts spike latency while idle warm containers waste energy.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40305" y="4010025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4183553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2683998" y="4540250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&amp; Forecast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83998" y="4915495"/>
            <a:ext cx="3131761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Azure Functions traces are preprocessed into time-series sequences; a Temporal Fusion Transformer predicts short-term workload.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86224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6029472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4529917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9917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Qwen3 interprets predicted demand, system state and SLA status to produce a high-level container-management plan.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32142" y="4010025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7875390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20" name="Text 18"/>
          <p:cNvSpPr/>
          <p:nvPr/>
        </p:nvSpPr>
        <p:spPr>
          <a:xfrm>
            <a:off x="6375737" y="4540250"/>
            <a:ext cx="31318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RL Control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75737" y="4915495"/>
            <a:ext cx="3131861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PPO controller executes fast decisions — NoOp, PreWarm, ScaleOut, Reuse, ScaleIn or Terminate — with SLA as the primary constraint.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777962" y="3656509"/>
            <a:ext cx="19050" cy="35351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3" name="Shape 21"/>
          <p:cNvSpPr/>
          <p:nvPr/>
        </p:nvSpPr>
        <p:spPr>
          <a:xfrm>
            <a:off x="9721210" y="3943747"/>
            <a:ext cx="132553" cy="132556"/>
          </a:xfrm>
          <a:prstGeom prst="ellipse">
            <a:avLst/>
          </a:prstGeom>
          <a:solidFill>
            <a:srgbClr val="3E251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1655" y="2009973"/>
            <a:ext cx="3131761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1655" y="2385219"/>
            <a:ext cx="3131761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closed-loop system is compared against reactive autoscaling on latency, SLA compliance, cold starts, energy and utilisation.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4128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Statement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97105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Challenge with Serverless Scaling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61475" y="177472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677649"/>
            <a:ext cx="466266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Serverless workloads vary rapidly. Reactive scaling responds </a:t>
            </a:r>
            <a:r>
              <a:rPr lang="en-US" sz="13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after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demand changes, causing cold-start latency spikes. Keeping containers warm reduces cold starts but inflates idle energy and resource waste.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4501568"/>
            <a:ext cx="4662669" cy="1136055"/>
          </a:xfrm>
          <a:prstGeom prst="roundRect">
            <a:avLst>
              <a:gd name="adj" fmla="val 2246"/>
            </a:avLst>
          </a:prstGeom>
          <a:solidFill>
            <a:srgbClr val="F3E3D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732450"/>
            <a:ext cx="212620" cy="1700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4209" y="4681749"/>
            <a:ext cx="393987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Core Problem:</a:t>
            </a:r>
            <a:r>
              <a:rPr lang="en-US" sz="13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Anticipate workload changes and autonomously manage containers so energy is minimised without violating SLA requirements.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45416" y="2180729"/>
            <a:ext cx="2818933" cy="185033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34522" y="2369840"/>
            <a:ext cx="2440720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Cold-Start Delay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934522" y="2807692"/>
            <a:ext cx="244072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New containers require initialisation, adding response latency during demand spikes.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17439" y="2180729"/>
            <a:ext cx="2819032" cy="185033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06545" y="2369840"/>
            <a:ext cx="2440819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Idle Energy Waste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906545" y="2807692"/>
            <a:ext cx="2440819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Warm containers kept on standby consume power even when receiving zero invocations.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45416" y="4184154"/>
            <a:ext cx="2818933" cy="1857474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34522" y="4373265"/>
            <a:ext cx="2440720" cy="28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Reactive Limitation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934522" y="4811117"/>
            <a:ext cx="244072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Threshold-based autoscalers scale too late; sudden spikes breach SLA before action is taken.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17439" y="4184154"/>
            <a:ext cx="2819032" cy="1857474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06545" y="4373265"/>
            <a:ext cx="2440819" cy="55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🔢</a:t>
            </a: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Optimisation Target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906545" y="5076825"/>
            <a:ext cx="244081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Minimise </a:t>
            </a:r>
            <a:r>
              <a:rPr lang="en-US" sz="13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 + αL + βCS + γC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subject to P95 latency ≤ SLA target.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202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Context &amp; Motivation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184159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Serverless Growth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724547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Event-driven applications create highly variable, burst-prone workloads that challenge traditional provisioning.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9" name="Text 7"/>
          <p:cNvSpPr/>
          <p:nvPr/>
        </p:nvSpPr>
        <p:spPr>
          <a:xfrm>
            <a:off x="4536366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Cold-Start Challenge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536366" y="2724547"/>
            <a:ext cx="31188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new container must initialise its runtime before serving requests, directly increasing end-user response latency.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033244" y="2126853"/>
            <a:ext cx="3496877" cy="2298799"/>
          </a:xfrm>
          <a:prstGeom prst="roundRect">
            <a:avLst>
              <a:gd name="adj" fmla="val 1233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2251" y="2315865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Reactive Scaling Limit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222251" y="2724547"/>
            <a:ext cx="31188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Scaling triggered by observed demand arrives too late for sudden spikes, causing SLA breaches at the moment of peak load.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614664"/>
            <a:ext cx="5339820" cy="169396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850482" y="480367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Energy Efficiency Need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50482" y="5212358"/>
            <a:ext cx="49618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Excessive warm capacity consumes significant energy during low-demand periods, raising operational cost and carbon footprint.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614664"/>
            <a:ext cx="5339820" cy="1693962"/>
          </a:xfrm>
          <a:prstGeom prst="roundRect">
            <a:avLst>
              <a:gd name="adj" fmla="val 1674"/>
            </a:avLst>
          </a:prstGeom>
          <a:solidFill>
            <a:srgbClr val="F9F7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79308" y="480367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Predictive Solution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379308" y="5212358"/>
            <a:ext cx="49618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Combining Transformer forecasting, Qwen3 agentic planning and PPO reinforcement learning enables proactive, autonomous control.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C0F3-E6C7-7BEE-AD5A-D6381AE1E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294BD5-B89E-86DE-0C7A-CF25E068641C}"/>
              </a:ext>
            </a:extLst>
          </p:cNvPr>
          <p:cNvSpPr/>
          <p:nvPr/>
        </p:nvSpPr>
        <p:spPr>
          <a:xfrm>
            <a:off x="700551" y="477720"/>
            <a:ext cx="10868745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DACCF2-C8BA-D6C8-5F65-EE44B9D927C2}"/>
              </a:ext>
            </a:extLst>
          </p:cNvPr>
          <p:cNvSpPr/>
          <p:nvPr/>
        </p:nvSpPr>
        <p:spPr>
          <a:xfrm>
            <a:off x="700551" y="790692"/>
            <a:ext cx="10868745" cy="35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Objectives &amp; Targets</a:t>
            </a:r>
            <a:endParaRPr lang="en-US" sz="3600" dirty="0"/>
          </a:p>
        </p:txBody>
      </p:sp>
      <p:sp>
        <p:nvSpPr>
          <p:cNvPr id="88" name="Shape 2">
            <a:extLst>
              <a:ext uri="{FF2B5EF4-FFF2-40B4-BE49-F238E27FC236}">
                <a16:creationId xmlns:a16="http://schemas.microsoft.com/office/drawing/2014/main" id="{ED3B77B0-7D8E-029D-AA83-789F13A87F5A}"/>
              </a:ext>
            </a:extLst>
          </p:cNvPr>
          <p:cNvSpPr/>
          <p:nvPr/>
        </p:nvSpPr>
        <p:spPr>
          <a:xfrm>
            <a:off x="700551" y="151361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482F15AC-288F-BB0D-2D3D-A25AEE3CB35E}"/>
              </a:ext>
            </a:extLst>
          </p:cNvPr>
          <p:cNvSpPr/>
          <p:nvPr/>
        </p:nvSpPr>
        <p:spPr>
          <a:xfrm>
            <a:off x="841221" y="1854447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7ADC1EA6-26AC-B00C-1A58-9E9C5DD7056A}"/>
              </a:ext>
            </a:extLst>
          </p:cNvPr>
          <p:cNvSpPr/>
          <p:nvPr/>
        </p:nvSpPr>
        <p:spPr>
          <a:xfrm>
            <a:off x="991152" y="1992297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Workload Forecasting</a:t>
            </a:r>
            <a:endParaRPr lang="en-US" sz="2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3F5E18EA-8952-1017-A653-67CA4F4B5ECD}"/>
              </a:ext>
            </a:extLst>
          </p:cNvPr>
          <p:cNvSpPr/>
          <p:nvPr/>
        </p:nvSpPr>
        <p:spPr>
          <a:xfrm>
            <a:off x="991152" y="2430189"/>
            <a:ext cx="4495241" cy="51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TFT to predict short-term invocation demand from multivariate workload and runtime features.</a:t>
            </a:r>
            <a:endParaRPr lang="en-US" sz="13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A0BDFF6E-4DB6-C4F7-7C37-A875D3037C23}"/>
              </a:ext>
            </a:extLst>
          </p:cNvPr>
          <p:cNvSpPr/>
          <p:nvPr/>
        </p:nvSpPr>
        <p:spPr>
          <a:xfrm>
            <a:off x="6377359" y="1850542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C037B9F3-1D7A-7EDB-5BA9-282DE850B76D}"/>
              </a:ext>
            </a:extLst>
          </p:cNvPr>
          <p:cNvSpPr/>
          <p:nvPr/>
        </p:nvSpPr>
        <p:spPr>
          <a:xfrm>
            <a:off x="6527290" y="1988392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SLA Protection</a:t>
            </a:r>
            <a:endParaRPr lang="en-US" sz="2000" dirty="0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2C751F4A-F474-9C86-A01C-6449E773DDF6}"/>
              </a:ext>
            </a:extLst>
          </p:cNvPr>
          <p:cNvSpPr/>
          <p:nvPr/>
        </p:nvSpPr>
        <p:spPr>
          <a:xfrm>
            <a:off x="6527290" y="2430189"/>
            <a:ext cx="4495241" cy="528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300" dirty="0">
                <a:solidFill>
                  <a:srgbClr val="504C49"/>
                </a:solidFill>
                <a:latin typeface="Source Serif 4" panose="020B0604020202020204" charset="0"/>
                <a:ea typeface="Source Serif 4" panose="020B0604020202020204" charset="0"/>
                <a:cs typeface="Source Serif 4" panose="020B0604020202020204" charset="0"/>
              </a:rPr>
              <a:t>Strongly prioritize P95 latency within the defined SLA target; violations carry the highest penalty.</a:t>
            </a:r>
            <a:endParaRPr lang="en-IN" sz="1300" dirty="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DA8ABFDA-2A5D-7907-BFEB-45895D6BD35F}"/>
              </a:ext>
            </a:extLst>
          </p:cNvPr>
          <p:cNvSpPr/>
          <p:nvPr/>
        </p:nvSpPr>
        <p:spPr>
          <a:xfrm>
            <a:off x="841221" y="3434005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27639583-B4E9-01F7-DC8E-88000FBA355D}"/>
              </a:ext>
            </a:extLst>
          </p:cNvPr>
          <p:cNvSpPr/>
          <p:nvPr/>
        </p:nvSpPr>
        <p:spPr>
          <a:xfrm>
            <a:off x="991152" y="3571855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Proactive Scaling</a:t>
            </a:r>
            <a:endParaRPr lang="en-US" sz="2000" dirty="0"/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CD17AC46-082D-BE47-2A2E-D8619EF05CD0}"/>
              </a:ext>
            </a:extLst>
          </p:cNvPr>
          <p:cNvSpPr/>
          <p:nvPr/>
        </p:nvSpPr>
        <p:spPr>
          <a:xfrm>
            <a:off x="991152" y="4009747"/>
            <a:ext cx="4495241" cy="51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Prewarm or scale containers before demand arrives, eliminating reactive cold-start latency.</a:t>
            </a:r>
            <a:endParaRPr lang="en-US" sz="1400" dirty="0"/>
          </a:p>
        </p:txBody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231625D9-F1E7-48B6-440F-C08656487C06}"/>
              </a:ext>
            </a:extLst>
          </p:cNvPr>
          <p:cNvSpPr/>
          <p:nvPr/>
        </p:nvSpPr>
        <p:spPr>
          <a:xfrm>
            <a:off x="6377359" y="3444880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F892E7F4-8D5A-C183-3EE1-BE97969083A9}"/>
              </a:ext>
            </a:extLst>
          </p:cNvPr>
          <p:cNvSpPr/>
          <p:nvPr/>
        </p:nvSpPr>
        <p:spPr>
          <a:xfrm>
            <a:off x="6527290" y="3582730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anose="020B0604020202020204" charset="0"/>
                <a:ea typeface="Platypi Medium" panose="020B0604020202020204" charset="0"/>
                <a:cs typeface="Platypi Medium" panose="020B0604020202020204" charset="0"/>
              </a:rPr>
              <a:t>Energy Optimization</a:t>
            </a:r>
            <a:endParaRPr lang="en-IN" sz="2000" dirty="0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11902A00-5CE5-E757-5F1D-6F593EE8FCC7}"/>
              </a:ext>
            </a:extLst>
          </p:cNvPr>
          <p:cNvSpPr/>
          <p:nvPr/>
        </p:nvSpPr>
        <p:spPr>
          <a:xfrm>
            <a:off x="6527290" y="4024527"/>
            <a:ext cx="4495241" cy="528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 unnecessary active and idle container time to lower overall energy consumption.</a:t>
            </a:r>
          </a:p>
        </p:txBody>
      </p:sp>
      <p:sp>
        <p:nvSpPr>
          <p:cNvPr id="111" name="Shape 12">
            <a:extLst>
              <a:ext uri="{FF2B5EF4-FFF2-40B4-BE49-F238E27FC236}">
                <a16:creationId xmlns:a16="http://schemas.microsoft.com/office/drawing/2014/main" id="{09B83EF2-8B93-7F83-EA7C-E9398BAB9F2F}"/>
              </a:ext>
            </a:extLst>
          </p:cNvPr>
          <p:cNvSpPr/>
          <p:nvPr/>
        </p:nvSpPr>
        <p:spPr>
          <a:xfrm>
            <a:off x="841221" y="5009658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</p:sp>
      <p:sp>
        <p:nvSpPr>
          <p:cNvPr id="113" name="Text 13">
            <a:extLst>
              <a:ext uri="{FF2B5EF4-FFF2-40B4-BE49-F238E27FC236}">
                <a16:creationId xmlns:a16="http://schemas.microsoft.com/office/drawing/2014/main" id="{4F800586-7FC5-B2AA-2D3C-037A54082349}"/>
              </a:ext>
            </a:extLst>
          </p:cNvPr>
          <p:cNvSpPr/>
          <p:nvPr/>
        </p:nvSpPr>
        <p:spPr>
          <a:xfrm>
            <a:off x="991152" y="5147508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 via Qwen3</a:t>
            </a:r>
            <a:endParaRPr lang="en-US" sz="2000" dirty="0"/>
          </a:p>
        </p:txBody>
      </p:sp>
      <p:sp>
        <p:nvSpPr>
          <p:cNvPr id="115" name="Text 14">
            <a:extLst>
              <a:ext uri="{FF2B5EF4-FFF2-40B4-BE49-F238E27FC236}">
                <a16:creationId xmlns:a16="http://schemas.microsoft.com/office/drawing/2014/main" id="{B70FF0F5-99BF-71B4-2F03-797CEB60E05E}"/>
              </a:ext>
            </a:extLst>
          </p:cNvPr>
          <p:cNvSpPr/>
          <p:nvPr/>
        </p:nvSpPr>
        <p:spPr>
          <a:xfrm>
            <a:off x="991152" y="5585400"/>
            <a:ext cx="4495241" cy="51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High-level reasoning over forecast, system state and SLA to generate orchestration plans.</a:t>
            </a:r>
            <a:endParaRPr lang="en-US" sz="1400" dirty="0"/>
          </a:p>
        </p:txBody>
      </p:sp>
      <p:sp>
        <p:nvSpPr>
          <p:cNvPr id="117" name="Shape 12">
            <a:extLst>
              <a:ext uri="{FF2B5EF4-FFF2-40B4-BE49-F238E27FC236}">
                <a16:creationId xmlns:a16="http://schemas.microsoft.com/office/drawing/2014/main" id="{FC52E9FB-1CA7-9BC3-E16D-61551C2F9118}"/>
              </a:ext>
            </a:extLst>
          </p:cNvPr>
          <p:cNvSpPr/>
          <p:nvPr/>
        </p:nvSpPr>
        <p:spPr>
          <a:xfrm>
            <a:off x="6377359" y="5021383"/>
            <a:ext cx="5043757" cy="1267796"/>
          </a:xfrm>
          <a:prstGeom prst="roundRect">
            <a:avLst>
              <a:gd name="adj" fmla="val 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9" name="Text 13">
            <a:extLst>
              <a:ext uri="{FF2B5EF4-FFF2-40B4-BE49-F238E27FC236}">
                <a16:creationId xmlns:a16="http://schemas.microsoft.com/office/drawing/2014/main" id="{B6D9AEEE-0E33-4DC5-8AC2-94E814ABBE82}"/>
              </a:ext>
            </a:extLst>
          </p:cNvPr>
          <p:cNvSpPr/>
          <p:nvPr/>
        </p:nvSpPr>
        <p:spPr>
          <a:xfrm>
            <a:off x="6527290" y="5159233"/>
            <a:ext cx="3099172" cy="340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Rigorous Evaluation</a:t>
            </a:r>
          </a:p>
        </p:txBody>
      </p:sp>
      <p:sp>
        <p:nvSpPr>
          <p:cNvPr id="121" name="Text 14">
            <a:extLst>
              <a:ext uri="{FF2B5EF4-FFF2-40B4-BE49-F238E27FC236}">
                <a16:creationId xmlns:a16="http://schemas.microsoft.com/office/drawing/2014/main" id="{BB8CC7A1-5BD1-D06D-D1CA-577596517798}"/>
              </a:ext>
            </a:extLst>
          </p:cNvPr>
          <p:cNvSpPr/>
          <p:nvPr/>
        </p:nvSpPr>
        <p:spPr>
          <a:xfrm>
            <a:off x="6527290" y="5601030"/>
            <a:ext cx="4758125" cy="528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Compare against reactive autoscaling across multiple workload patterns with clear metrics.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664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345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1643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Pipeline &amp; Model Architecture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61475" y="208567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70931"/>
            <a:ext cx="10868745" cy="28760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780" y="3343381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Prep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99780" y="3721236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Clean and sort Azure Functions traces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382469" y="2955067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Preprocessing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382469" y="3332922"/>
            <a:ext cx="1642940" cy="94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Resample, normalize, encode, add time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65158" y="3343381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TFT Forecasting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65158" y="4015414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 intervals in → predict next 5–15 min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47847" y="2896232"/>
            <a:ext cx="1642941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Qwen3 Planning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147847" y="3568264"/>
            <a:ext cx="1642941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Forecast + state + SLA → high-level plan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40996" y="3343381"/>
            <a:ext cx="1642940" cy="294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PPO Control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040996" y="3721236"/>
            <a:ext cx="1642940" cy="70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State → action: PreWarm/Scale/Reuse/Terminate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475" y="545961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Data source: </a:t>
            </a: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Azure Functions workload traces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· Key features include invocation count, execution duration, CPU/memory utilisation, container state, cold-start occurrence, response latency and time-of-day indicators.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091" y="480186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Methodology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66091" y="744108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Methodology &amp; Control Loop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466091" y="138198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781501" y="4607561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Agentic Planning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781501" y="4129698"/>
            <a:ext cx="1086024" cy="135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TFT Prediction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781501" y="3656662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Preprocessing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781501" y="3178799"/>
            <a:ext cx="1086024" cy="1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Workload Data</a:t>
            </a:r>
            <a:endParaRPr lang="en-US" sz="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336C28F-0187-A148-8DDF-D8439BE776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202"/>
          <a:stretch>
            <a:fillRect/>
          </a:stretch>
        </p:blipFill>
        <p:spPr>
          <a:xfrm>
            <a:off x="466091" y="1518898"/>
            <a:ext cx="10868745" cy="46082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290" y="273484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Implementation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9290" y="577768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Tools &amp; Technologies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74267" y="119860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99349" y="1461996"/>
            <a:ext cx="10785404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stack integrates state-of-the-art ML frameworks with production-grade cloud-native infrastructure, enabling end-to-end experimentation and real deployment validation.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110478"/>
              </p:ext>
            </p:extLst>
          </p:nvPr>
        </p:nvGraphicFramePr>
        <p:xfrm>
          <a:off x="2985477" y="2039815"/>
          <a:ext cx="8268660" cy="4454768"/>
        </p:xfrm>
        <a:graphic>
          <a:graphicData uri="http://schemas.openxmlformats.org/drawingml/2006/table">
            <a:tbl>
              <a:tblPr/>
              <a:tblGrid>
                <a:gridCol w="275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6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6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ea typeface="Source Serif 4" pitchFamily="34" charset="-122"/>
                          <a:cs typeface="Source Serif 4" pitchFamily="34" charset="-120"/>
                        </a:rPr>
                        <a:t>Category</a:t>
                      </a:r>
                      <a:endParaRPr lang="en-US" sz="950" dirty="0">
                        <a:latin typeface="Book Antiqua" panose="02040602050305030304" pitchFamily="18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ea typeface="Source Serif 4" pitchFamily="34" charset="-122"/>
                          <a:cs typeface="Source Serif 4" pitchFamily="34" charset="-120"/>
                        </a:rPr>
                        <a:t>Tool</a:t>
                      </a: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 / </a:t>
                      </a: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ea typeface="Source Serif 4" pitchFamily="34" charset="-122"/>
                          <a:cs typeface="Source Serif 4" pitchFamily="34" charset="-120"/>
                        </a:rPr>
                        <a:t>Library</a:t>
                      </a:r>
                      <a:endParaRPr lang="en-US" sz="950" dirty="0">
                        <a:latin typeface="Book Antiqua" panose="02040602050305030304" pitchFamily="18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  <a:ea typeface="Source Serif 4" pitchFamily="34" charset="-122"/>
                          <a:cs typeface="Source Serif 4" pitchFamily="34" charset="-120"/>
                        </a:rPr>
                        <a:t>Role</a:t>
                      </a:r>
                      <a:endParaRPr lang="en-US" sz="950" dirty="0">
                        <a:latin typeface="Book Antiqua" panose="02040602050305030304" pitchFamily="18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3E25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5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Programming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Python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Orchestration, ML/RL pipelines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 Processing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Pandas, NumPy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Cleaning, resampling, feature engineering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Deep Learning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PyTorch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Model implementation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Prediction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Temporal Fusion Transformer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Workload forecasting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Agentic AI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Qwen3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High-level planning &amp; reasoning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Reinforcement Learning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PPO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Fast SLA-aware control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Serverless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OpenFaaS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Function execution runtime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Containerisation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Docker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Application containers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Orchestration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Kubernetes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Container lifecycle &amp; scaling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Monitoring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Prometheus + Grafana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Metrics collection &amp; dashboards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4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Dataset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Azure Functions Traces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Historical workload patterns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Development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Jupyter Notebook / VS Code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04C49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Experimentation &amp; implementation</a:t>
                      </a:r>
                      <a:endParaRPr lang="en-US" sz="95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120942" marR="12094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300" y="2574186"/>
            <a:ext cx="302312" cy="302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0300" y="2973145"/>
            <a:ext cx="1440867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ML / AI Layer</a:t>
            </a:r>
            <a:endParaRPr lang="en-US" sz="1150" dirty="0"/>
          </a:p>
        </p:txBody>
      </p:sp>
      <p:sp>
        <p:nvSpPr>
          <p:cNvPr id="6" name="Text 5"/>
          <p:cNvSpPr/>
          <p:nvPr/>
        </p:nvSpPr>
        <p:spPr>
          <a:xfrm>
            <a:off x="880301" y="3208492"/>
            <a:ext cx="1730036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PyTorch · TFT · Qwen3 · PPO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0301" y="3834749"/>
            <a:ext cx="302312" cy="302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0302" y="4233708"/>
            <a:ext cx="167780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Infrastructure Layer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880301" y="4469055"/>
            <a:ext cx="195915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Kubernetes · OpenFaaS · Docker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864" y="5094069"/>
            <a:ext cx="302312" cy="302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7864" y="5493028"/>
            <a:ext cx="147708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Observability Layer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937864" y="5728375"/>
            <a:ext cx="1734995" cy="173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Prometheus · Grafana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802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Expected Outcomes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661475" y="85139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Deliverables &amp; Applications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661475" y="159831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045499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156" y="2225184"/>
            <a:ext cx="3172539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Predictive Workload Model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156" y="2577113"/>
            <a:ext cx="317253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Accurate short-term workload forecasts using TFT trained on Azure Functions traces.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9897" y="2045499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9578" y="2225184"/>
            <a:ext cx="3172539" cy="521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Autonomous Container Controller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09578" y="2828136"/>
            <a:ext cx="317253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Proactive, adaptive lifecycle decisions driven by Qwen3 planning and PPO control.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98319" y="2045499"/>
            <a:ext cx="3531901" cy="1675507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8000" y="2225184"/>
            <a:ext cx="3172539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SLA-Safe Energy Efficiency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178000" y="2577113"/>
            <a:ext cx="317253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energy and cold starts while preserving the P95 latency target. </a:t>
            </a:r>
            <a:r>
              <a:rPr lang="en-US" sz="12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(Targets: 15–25% energy, 20–30% cold-start reduction.)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1475" y="3857531"/>
            <a:ext cx="5366112" cy="1186755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156" y="4037216"/>
            <a:ext cx="5006751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☁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Cloud-Native Prototype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156" y="4389145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Kubernetes/OpenFaaS/Docker implementation with Prometheus and Grafana monitoring dashboards.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64108" y="3857531"/>
            <a:ext cx="5366112" cy="1186755"/>
          </a:xfrm>
          <a:prstGeom prst="roundRect">
            <a:avLst>
              <a:gd name="adj" fmla="val 203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3789" y="4037216"/>
            <a:ext cx="5006751" cy="27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5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Evaluation &amp; Documentation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43789" y="4389145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Baseline comparison, ablation study, full metrics/graphs and final project report.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475" y="5455782"/>
            <a:ext cx="10868745" cy="814983"/>
          </a:xfrm>
          <a:prstGeom prst="roundRect">
            <a:avLst>
              <a:gd name="adj" fmla="val 2957"/>
            </a:avLst>
          </a:prstGeom>
          <a:solidFill>
            <a:srgbClr val="F3E3D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5650548"/>
            <a:ext cx="200814" cy="16063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3551" y="5632391"/>
            <a:ext cx="101860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Example:</a:t>
            </a:r>
            <a:r>
              <a:rPr lang="en-US" sz="12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During an e-commerce flash sale, TFT predicts a spike → Qwen3 plans prewarming → PPO selects the exact action → warm containers handle demand → as demand drops, the system scales in to save energy.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54D1-88A6-F0B7-0212-C6887E41F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7CF870-0DDD-69F9-F7A5-8D05E1491216}"/>
              </a:ext>
            </a:extLst>
          </p:cNvPr>
          <p:cNvSpPr/>
          <p:nvPr/>
        </p:nvSpPr>
        <p:spPr>
          <a:xfrm>
            <a:off x="661475" y="545802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References</a:t>
            </a:r>
            <a:endParaRPr lang="en-US" sz="15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5A1F91-C5CC-71B7-C648-ECA94F180BC1}"/>
              </a:ext>
            </a:extLst>
          </p:cNvPr>
          <p:cNvSpPr/>
          <p:nvPr/>
        </p:nvSpPr>
        <p:spPr>
          <a:xfrm>
            <a:off x="661475" y="85139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References</a:t>
            </a:r>
            <a:endParaRPr lang="en-US" sz="31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63787F-BEAE-7D24-1147-5223BEB77436}"/>
              </a:ext>
            </a:extLst>
          </p:cNvPr>
          <p:cNvSpPr/>
          <p:nvPr/>
        </p:nvSpPr>
        <p:spPr>
          <a:xfrm>
            <a:off x="661475" y="150453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433685B6-81F1-7553-A7B3-788419152473}"/>
              </a:ext>
            </a:extLst>
          </p:cNvPr>
          <p:cNvSpPr/>
          <p:nvPr/>
        </p:nvSpPr>
        <p:spPr>
          <a:xfrm>
            <a:off x="661475" y="167473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Selected papers that support the project’s predictive autoscaling, cold-start mitigation, and energy-aware container management goals.</a:t>
            </a:r>
            <a:endParaRPr lang="en-US" sz="9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47FEF345-5014-41D4-CB4B-E71C3F6A99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16447"/>
            <a:ext cx="5284556" cy="1411188"/>
          </a:xfrm>
          <a:prstGeom prst="rect">
            <a:avLst/>
          </a:prstGeom>
        </p:spPr>
      </p:pic>
      <p:sp>
        <p:nvSpPr>
          <p:cNvPr id="30" name="Text 4">
            <a:extLst>
              <a:ext uri="{FF2B5EF4-FFF2-40B4-BE49-F238E27FC236}">
                <a16:creationId xmlns:a16="http://schemas.microsoft.com/office/drawing/2014/main" id="{923E239B-84FA-CC7D-7D3B-E6EEECF9DDDB}"/>
              </a:ext>
            </a:extLst>
          </p:cNvPr>
          <p:cNvSpPr/>
          <p:nvPr/>
        </p:nvSpPr>
        <p:spPr>
          <a:xfrm>
            <a:off x="847803" y="2151980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1. Dynamic Management of Constrained Computing Resources for Serverless Services (2025)</a:t>
            </a:r>
            <a:endParaRPr lang="en-US" sz="12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44599D9C-4373-DBD4-3ED6-BB744225586E}"/>
              </a:ext>
            </a:extLst>
          </p:cNvPr>
          <p:cNvSpPr/>
          <p:nvPr/>
        </p:nvSpPr>
        <p:spPr>
          <a:xfrm>
            <a:off x="847803" y="2615728"/>
            <a:ext cx="4962699" cy="6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energy-efficient container management, SLA protection, container states and resource optimization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One of the closest papers to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energy + SLA + serverless container management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objective</a:t>
            </a:r>
            <a:endParaRPr lang="en-US" sz="950" dirty="0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D15E7493-32C5-24E8-7507-2F57B739EE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07407"/>
            <a:ext cx="5284556" cy="1411188"/>
          </a:xfrm>
          <a:prstGeom prst="rect">
            <a:avLst/>
          </a:prstGeom>
        </p:spPr>
      </p:pic>
      <p:sp>
        <p:nvSpPr>
          <p:cNvPr id="36" name="Text 6">
            <a:extLst>
              <a:ext uri="{FF2B5EF4-FFF2-40B4-BE49-F238E27FC236}">
                <a16:creationId xmlns:a16="http://schemas.microsoft.com/office/drawing/2014/main" id="{57DA1363-0C8D-A1E3-DC4B-2F324F619F80}"/>
              </a:ext>
            </a:extLst>
          </p:cNvPr>
          <p:cNvSpPr/>
          <p:nvPr/>
        </p:nvSpPr>
        <p:spPr>
          <a:xfrm>
            <a:off x="847803" y="3642940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2. Deep Learning and Feedback Control Based Container Auto-Scaling for Cloud Native Micro-Services (2025)</a:t>
            </a:r>
            <a:endParaRPr lang="en-US" sz="1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FC3A4AFD-6AD2-6817-648B-15D739939164}"/>
              </a:ext>
            </a:extLst>
          </p:cNvPr>
          <p:cNvSpPr/>
          <p:nvPr/>
        </p:nvSpPr>
        <p:spPr>
          <a:xfrm>
            <a:off x="847803" y="4106688"/>
            <a:ext cx="4962699" cy="6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deep-learning-based prediction, Kubernetes/container autoscaling and P95 SLA management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Provides the basis for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predictive autoscaling and cloud-native implementation</a:t>
            </a:r>
            <a:endParaRPr lang="en-US" sz="950" dirty="0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5F5EC5E6-580F-DC39-6ED9-94C7DE3B0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98367"/>
            <a:ext cx="5284556" cy="1411188"/>
          </a:xfrm>
          <a:prstGeom prst="rect">
            <a:avLst/>
          </a:prstGeom>
        </p:spPr>
      </p:pic>
      <p:sp>
        <p:nvSpPr>
          <p:cNvPr id="42" name="Text 8">
            <a:extLst>
              <a:ext uri="{FF2B5EF4-FFF2-40B4-BE49-F238E27FC236}">
                <a16:creationId xmlns:a16="http://schemas.microsoft.com/office/drawing/2014/main" id="{62E2046F-50F8-35D1-BE3C-800A07FA9385}"/>
              </a:ext>
            </a:extLst>
          </p:cNvPr>
          <p:cNvSpPr/>
          <p:nvPr/>
        </p:nvSpPr>
        <p:spPr>
          <a:xfrm>
            <a:off x="847803" y="5133900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3. Incendio: Priority-Based Scheduling for Alleviating Cold Start in Serverless Computing (2024)</a:t>
            </a:r>
            <a:endParaRPr lang="en-US" sz="12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C8AC5995-CB60-7F26-8FE5-6E5FD5AFFE49}"/>
              </a:ext>
            </a:extLst>
          </p:cNvPr>
          <p:cNvSpPr/>
          <p:nvPr/>
        </p:nvSpPr>
        <p:spPr>
          <a:xfrm>
            <a:off x="847803" y="5597649"/>
            <a:ext cx="4962699" cy="6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workload prediction, container pre-warming, container termination and RL-based scheduling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Very important because it is one of the closest works to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predictive cold-start management</a:t>
            </a:r>
            <a:endParaRPr lang="en-US" sz="950" dirty="0"/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F5F90D13-3F35-55CB-78B9-F0C440865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2014" y="2016447"/>
            <a:ext cx="5284556" cy="1249065"/>
          </a:xfrm>
          <a:prstGeom prst="rect">
            <a:avLst/>
          </a:prstGeom>
        </p:spPr>
      </p:pic>
      <p:sp>
        <p:nvSpPr>
          <p:cNvPr id="48" name="Text 10">
            <a:extLst>
              <a:ext uri="{FF2B5EF4-FFF2-40B4-BE49-F238E27FC236}">
                <a16:creationId xmlns:a16="http://schemas.microsoft.com/office/drawing/2014/main" id="{18A559CF-B122-7CF0-5E5D-919A61770366}"/>
              </a:ext>
            </a:extLst>
          </p:cNvPr>
          <p:cNvSpPr/>
          <p:nvPr/>
        </p:nvSpPr>
        <p:spPr>
          <a:xfrm>
            <a:off x="6438342" y="2151980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4. Tackling Cold Start in Serverless Computing with Multi-Level Container Reuse (2024)</a:t>
            </a:r>
            <a:endParaRPr lang="en-US" sz="12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9CD0CAA3-7731-4BF7-EC63-6AE06A1C2737}"/>
              </a:ext>
            </a:extLst>
          </p:cNvPr>
          <p:cNvSpPr/>
          <p:nvPr/>
        </p:nvSpPr>
        <p:spPr>
          <a:xfrm>
            <a:off x="6438342" y="2615728"/>
            <a:ext cx="4962699" cy="51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deep reinforcement learning, container reuse and cold-start reduction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Supports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PPO/container-reuse strategy</a:t>
            </a:r>
            <a:endParaRPr lang="en-US" sz="950" dirty="0"/>
          </a:p>
        </p:txBody>
      </p:sp>
      <p:pic>
        <p:nvPicPr>
          <p:cNvPr id="52" name="Image 4" descr="preencoded.png">
            <a:extLst>
              <a:ext uri="{FF2B5EF4-FFF2-40B4-BE49-F238E27FC236}">
                <a16:creationId xmlns:a16="http://schemas.microsoft.com/office/drawing/2014/main" id="{AB9A8A3B-C1D9-355C-8A2C-874340361E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2014" y="3345284"/>
            <a:ext cx="5284556" cy="1603177"/>
          </a:xfrm>
          <a:prstGeom prst="rect">
            <a:avLst/>
          </a:prstGeom>
        </p:spPr>
      </p:pic>
      <p:sp>
        <p:nvSpPr>
          <p:cNvPr id="54" name="Text 12">
            <a:extLst>
              <a:ext uri="{FF2B5EF4-FFF2-40B4-BE49-F238E27FC236}">
                <a16:creationId xmlns:a16="http://schemas.microsoft.com/office/drawing/2014/main" id="{682F4457-B355-FC05-6A42-51D01E3A4CAA}"/>
              </a:ext>
            </a:extLst>
          </p:cNvPr>
          <p:cNvSpPr/>
          <p:nvPr/>
        </p:nvSpPr>
        <p:spPr>
          <a:xfrm>
            <a:off x="6438342" y="3480816"/>
            <a:ext cx="4962699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5. Microservice Autoscaling With Fine-Grained DVFS in Dynamic Multi-Edge Collaboration via Deep Reinforcement Learning (2026)</a:t>
            </a:r>
            <a:endParaRPr lang="en-US" sz="1200" dirty="0"/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505BDB28-A01C-3E4F-ED18-CB72DAE5664B}"/>
              </a:ext>
            </a:extLst>
          </p:cNvPr>
          <p:cNvSpPr/>
          <p:nvPr/>
        </p:nvSpPr>
        <p:spPr>
          <a:xfrm>
            <a:off x="6438342" y="4136553"/>
            <a:ext cx="4962699" cy="67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DRL-based autoscaling, energy optimization and latency management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Strengthens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energy-aware reinforcement-learning component</a:t>
            </a:r>
            <a:endParaRPr lang="en-US" sz="950" dirty="0"/>
          </a:p>
        </p:txBody>
      </p:sp>
      <p:pic>
        <p:nvPicPr>
          <p:cNvPr id="58" name="Image 5" descr="preencoded.png">
            <a:extLst>
              <a:ext uri="{FF2B5EF4-FFF2-40B4-BE49-F238E27FC236}">
                <a16:creationId xmlns:a16="http://schemas.microsoft.com/office/drawing/2014/main" id="{780BD68A-2BF9-1926-ED4B-DD8F06B24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2014" y="5028232"/>
            <a:ext cx="5284556" cy="1249065"/>
          </a:xfrm>
          <a:prstGeom prst="rect">
            <a:avLst/>
          </a:prstGeom>
        </p:spPr>
      </p:pic>
      <p:sp>
        <p:nvSpPr>
          <p:cNvPr id="60" name="Text 14">
            <a:extLst>
              <a:ext uri="{FF2B5EF4-FFF2-40B4-BE49-F238E27FC236}">
                <a16:creationId xmlns:a16="http://schemas.microsoft.com/office/drawing/2014/main" id="{A535D398-DA9F-E3D2-997C-EA784847672F}"/>
              </a:ext>
            </a:extLst>
          </p:cNvPr>
          <p:cNvSpPr/>
          <p:nvPr/>
        </p:nvSpPr>
        <p:spPr>
          <a:xfrm>
            <a:off x="6438342" y="5163765"/>
            <a:ext cx="496269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Bold" pitchFamily="34" charset="0"/>
                <a:ea typeface="Platypi Bold" pitchFamily="34" charset="-122"/>
                <a:cs typeface="Platypi Bold" pitchFamily="34" charset="-120"/>
              </a:rPr>
              <a:t>6. FaaShare: Enabling Generic Low-Latency and SLO-Aware GPU Sharing in Serverless Computing (2026)</a:t>
            </a:r>
            <a:endParaRPr lang="en-US" sz="1200" dirty="0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C3016CF4-9E27-885A-B0F3-76636C9D4034}"/>
              </a:ext>
            </a:extLst>
          </p:cNvPr>
          <p:cNvSpPr/>
          <p:nvPr/>
        </p:nvSpPr>
        <p:spPr>
          <a:xfrm>
            <a:off x="6438342" y="5627513"/>
            <a:ext cx="4962699" cy="514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Supports: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serverless pre-warming, SLO protection and resource allocation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Relevance: Supports the project’s </a:t>
            </a:r>
            <a:r>
              <a:rPr lang="en-US" sz="9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SLA/SLO-aware container-management objective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819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400263"/>
            <a:ext cx="629686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4" name="Shape 1"/>
          <p:cNvSpPr/>
          <p:nvPr/>
        </p:nvSpPr>
        <p:spPr>
          <a:xfrm>
            <a:off x="661475" y="3912356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3105</TotalTime>
  <Words>1152</Words>
  <Application>Microsoft Office PowerPoint</Application>
  <PresentationFormat>Widescreen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Source Serif 4 Bold</vt:lpstr>
      <vt:lpstr>Source Serif 4</vt:lpstr>
      <vt:lpstr>Platypi Bold</vt:lpstr>
      <vt:lpstr>Platypi Medium</vt:lpstr>
      <vt:lpstr>Book Antiqua</vt:lpstr>
      <vt:lpstr>Twemoji Mozilla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Charan P</dc:creator>
  <cp:lastModifiedBy>Charan P</cp:lastModifiedBy>
  <cp:revision>6</cp:revision>
  <dcterms:created xsi:type="dcterms:W3CDTF">2026-09-13T16:57:43Z</dcterms:created>
  <dcterms:modified xsi:type="dcterms:W3CDTF">2026-09-16T07:30:45Z</dcterms:modified>
</cp:coreProperties>
</file>